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410" r:id="rId3"/>
    <p:sldId id="383" r:id="rId5"/>
    <p:sldId id="277" r:id="rId6"/>
    <p:sldId id="391" r:id="rId7"/>
    <p:sldId id="412" r:id="rId8"/>
    <p:sldId id="408" r:id="rId9"/>
    <p:sldId id="405" r:id="rId10"/>
    <p:sldId id="404" r:id="rId11"/>
    <p:sldId id="403" r:id="rId12"/>
    <p:sldId id="414" r:id="rId13"/>
    <p:sldId id="415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8C11"/>
    <a:srgbClr val="FAF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A107856-5554-42FB-B03E-39F5DBC370B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microsoft.com/office/2018/10/relationships/authors" Target="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zubair\AppData\Local\Packages\5319275A.WhatsAppDesktop_cv1g1gvanyjgm\LocalState\sessions\F49A14BC34E79703F11EFF111F1FBC737486650D\transfers\2026-01\Cheezious_Final_Project_FINAL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Profit_Calculations!$B$1</c:f>
              <c:strCache>
                <c:ptCount val="1"/>
                <c:pt idx="0">
                  <c:v>Final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Profit_Calculations!$B$2:$B$16</c:f>
              <c:numCache>
                <c:formatCode>General</c:formatCode>
                <c:ptCount val="15"/>
                <c:pt idx="0">
                  <c:v>315</c:v>
                </c:pt>
                <c:pt idx="1">
                  <c:v>266</c:v>
                </c:pt>
                <c:pt idx="2">
                  <c:v>320</c:v>
                </c:pt>
                <c:pt idx="3">
                  <c:v>405</c:v>
                </c:pt>
                <c:pt idx="4">
                  <c:v>250</c:v>
                </c:pt>
                <c:pt idx="5">
                  <c:v>722.5</c:v>
                </c:pt>
                <c:pt idx="6">
                  <c:v>810</c:v>
                </c:pt>
                <c:pt idx="7">
                  <c:v>760</c:v>
                </c:pt>
                <c:pt idx="8">
                  <c:v>765</c:v>
                </c:pt>
                <c:pt idx="9">
                  <c:v>765</c:v>
                </c:pt>
                <c:pt idx="10">
                  <c:v>427.5</c:v>
                </c:pt>
                <c:pt idx="11">
                  <c:v>495</c:v>
                </c:pt>
                <c:pt idx="12">
                  <c:v>585</c:v>
                </c:pt>
                <c:pt idx="13">
                  <c:v>400</c:v>
                </c:pt>
                <c:pt idx="14">
                  <c:v>475</c:v>
                </c:pt>
              </c:numCache>
            </c:numRef>
          </c:val>
        </c:ser>
        <c:ser>
          <c:idx val="1"/>
          <c:order val="1"/>
          <c:tx>
            <c:strRef>
              <c:f>Profit_Calculations!$C$1</c:f>
              <c:strCache>
                <c:ptCount val="1"/>
                <c:pt idx="0">
                  <c:v>Cost 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Profit_Calculations!$C$2:$C$16</c:f>
              <c:numCache>
                <c:formatCode>General</c:formatCode>
                <c:ptCount val="15"/>
                <c:pt idx="0">
                  <c:v>220</c:v>
                </c:pt>
                <c:pt idx="1">
                  <c:v>180</c:v>
                </c:pt>
                <c:pt idx="2">
                  <c:v>200</c:v>
                </c:pt>
                <c:pt idx="3">
                  <c:v>300</c:v>
                </c:pt>
                <c:pt idx="4">
                  <c:v>120</c:v>
                </c:pt>
                <c:pt idx="5">
                  <c:v>550</c:v>
                </c:pt>
                <c:pt idx="6">
                  <c:v>600</c:v>
                </c:pt>
                <c:pt idx="7">
                  <c:v>520</c:v>
                </c:pt>
                <c:pt idx="8">
                  <c:v>560</c:v>
                </c:pt>
                <c:pt idx="9">
                  <c:v>570</c:v>
                </c:pt>
                <c:pt idx="10">
                  <c:v>280</c:v>
                </c:pt>
                <c:pt idx="11">
                  <c:v>340</c:v>
                </c:pt>
                <c:pt idx="12">
                  <c:v>400</c:v>
                </c:pt>
                <c:pt idx="13">
                  <c:v>250</c:v>
                </c:pt>
                <c:pt idx="14">
                  <c:v>300</c:v>
                </c:pt>
              </c:numCache>
            </c:numRef>
          </c:val>
        </c:ser>
        <c:ser>
          <c:idx val="2"/>
          <c:order val="2"/>
          <c:tx>
            <c:strRef>
              <c:f>Profit_Calculations!$D$1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Profit_Calculations!$D$2:$D$16</c:f>
              <c:numCache>
                <c:formatCode>General</c:formatCode>
                <c:ptCount val="15"/>
                <c:pt idx="0">
                  <c:v>150</c:v>
                </c:pt>
                <c:pt idx="1">
                  <c:v>200</c:v>
                </c:pt>
                <c:pt idx="2">
                  <c:v>180</c:v>
                </c:pt>
                <c:pt idx="3">
                  <c:v>160</c:v>
                </c:pt>
                <c:pt idx="4">
                  <c:v>300</c:v>
                </c:pt>
                <c:pt idx="5">
                  <c:v>140</c:v>
                </c:pt>
                <c:pt idx="6">
                  <c:v>160</c:v>
                </c:pt>
                <c:pt idx="7">
                  <c:v>150</c:v>
                </c:pt>
                <c:pt idx="8">
                  <c:v>155</c:v>
                </c:pt>
                <c:pt idx="9">
                  <c:v>145</c:v>
                </c:pt>
                <c:pt idx="10">
                  <c:v>200</c:v>
                </c:pt>
                <c:pt idx="11">
                  <c:v>180</c:v>
                </c:pt>
                <c:pt idx="12">
                  <c:v>150</c:v>
                </c:pt>
                <c:pt idx="13">
                  <c:v>220</c:v>
                </c:pt>
                <c:pt idx="14">
                  <c:v>190</c:v>
                </c:pt>
              </c:numCache>
            </c:numRef>
          </c:val>
        </c:ser>
        <c:ser>
          <c:idx val="3"/>
          <c:order val="3"/>
          <c:tx>
            <c:strRef>
              <c:f>Profit_Calculations!$E$1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Profit_Calculations!$E$2:$E$16</c:f>
              <c:numCache>
                <c:formatCode>General</c:formatCode>
                <c:ptCount val="15"/>
                <c:pt idx="0">
                  <c:v>47250</c:v>
                </c:pt>
                <c:pt idx="1">
                  <c:v>53200</c:v>
                </c:pt>
                <c:pt idx="2">
                  <c:v>57600</c:v>
                </c:pt>
                <c:pt idx="3">
                  <c:v>64800</c:v>
                </c:pt>
                <c:pt idx="4">
                  <c:v>75000</c:v>
                </c:pt>
                <c:pt idx="5">
                  <c:v>101150</c:v>
                </c:pt>
                <c:pt idx="6">
                  <c:v>129600</c:v>
                </c:pt>
                <c:pt idx="7">
                  <c:v>114000</c:v>
                </c:pt>
                <c:pt idx="8">
                  <c:v>118575</c:v>
                </c:pt>
                <c:pt idx="9">
                  <c:v>110925</c:v>
                </c:pt>
                <c:pt idx="10">
                  <c:v>85500</c:v>
                </c:pt>
                <c:pt idx="11">
                  <c:v>89100</c:v>
                </c:pt>
                <c:pt idx="12">
                  <c:v>87750</c:v>
                </c:pt>
                <c:pt idx="13">
                  <c:v>88000</c:v>
                </c:pt>
                <c:pt idx="14">
                  <c:v>90250</c:v>
                </c:pt>
              </c:numCache>
            </c:numRef>
          </c:val>
        </c:ser>
        <c:ser>
          <c:idx val="4"/>
          <c:order val="4"/>
          <c:tx>
            <c:strRef>
              <c:f>Profit_Calculations!$F$1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Profit_Calculations!$F$2:$F$16</c:f>
              <c:numCache>
                <c:formatCode>General</c:formatCode>
                <c:ptCount val="15"/>
                <c:pt idx="0">
                  <c:v>33000</c:v>
                </c:pt>
                <c:pt idx="1">
                  <c:v>36000</c:v>
                </c:pt>
                <c:pt idx="2">
                  <c:v>36000</c:v>
                </c:pt>
                <c:pt idx="3">
                  <c:v>48000</c:v>
                </c:pt>
                <c:pt idx="4">
                  <c:v>36000</c:v>
                </c:pt>
                <c:pt idx="5">
                  <c:v>77000</c:v>
                </c:pt>
                <c:pt idx="6">
                  <c:v>96000</c:v>
                </c:pt>
                <c:pt idx="7">
                  <c:v>78000</c:v>
                </c:pt>
                <c:pt idx="8">
                  <c:v>86800</c:v>
                </c:pt>
                <c:pt idx="9">
                  <c:v>82650</c:v>
                </c:pt>
                <c:pt idx="10">
                  <c:v>56000</c:v>
                </c:pt>
                <c:pt idx="11">
                  <c:v>61200</c:v>
                </c:pt>
                <c:pt idx="12">
                  <c:v>60000</c:v>
                </c:pt>
                <c:pt idx="13">
                  <c:v>55000</c:v>
                </c:pt>
                <c:pt idx="14">
                  <c:v>57000</c:v>
                </c:pt>
              </c:numCache>
            </c:numRef>
          </c:val>
        </c:ser>
        <c:ser>
          <c:idx val="5"/>
          <c:order val="5"/>
          <c:tx>
            <c:strRef>
              <c:f>Profit_Calculations!$G$1</c:f>
              <c:strCache>
                <c:ptCount val="1"/>
                <c:pt idx="0">
                  <c:v>Monthly Profit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Profit_Calculations!$G$2:$G$16</c:f>
              <c:numCache>
                <c:formatCode>General</c:formatCode>
                <c:ptCount val="15"/>
                <c:pt idx="0">
                  <c:v>14250</c:v>
                </c:pt>
                <c:pt idx="1">
                  <c:v>17200</c:v>
                </c:pt>
                <c:pt idx="2">
                  <c:v>21600</c:v>
                </c:pt>
                <c:pt idx="3">
                  <c:v>16800</c:v>
                </c:pt>
                <c:pt idx="4">
                  <c:v>39000</c:v>
                </c:pt>
                <c:pt idx="5">
                  <c:v>24150</c:v>
                </c:pt>
                <c:pt idx="6">
                  <c:v>33600</c:v>
                </c:pt>
                <c:pt idx="7">
                  <c:v>36000</c:v>
                </c:pt>
                <c:pt idx="8">
                  <c:v>31775</c:v>
                </c:pt>
                <c:pt idx="9">
                  <c:v>28275</c:v>
                </c:pt>
                <c:pt idx="10">
                  <c:v>29500</c:v>
                </c:pt>
                <c:pt idx="11">
                  <c:v>27900</c:v>
                </c:pt>
                <c:pt idx="12">
                  <c:v>27750</c:v>
                </c:pt>
                <c:pt idx="13">
                  <c:v>33000</c:v>
                </c:pt>
                <c:pt idx="14">
                  <c:v>33250</c:v>
                </c:pt>
              </c:numCache>
            </c:numRef>
          </c:val>
        </c:ser>
        <c:ser>
          <c:idx val="6"/>
          <c:order val="6"/>
          <c:tx>
            <c:strRef>
              <c:f>Profit_Calculations!$H$1</c:f>
              <c:strCache>
                <c:ptCount val="1"/>
                <c:pt idx="0">
                  <c:v>Profit %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Profit_Calculations!$H$2:$H$16</c:f>
              <c:numCache>
                <c:formatCode>General</c:formatCode>
                <c:ptCount val="15"/>
                <c:pt idx="0">
                  <c:v>43.1818181818182</c:v>
                </c:pt>
                <c:pt idx="1">
                  <c:v>47.7777777777778</c:v>
                </c:pt>
                <c:pt idx="2">
                  <c:v>60</c:v>
                </c:pt>
                <c:pt idx="3">
                  <c:v>35</c:v>
                </c:pt>
                <c:pt idx="4">
                  <c:v>108.333333333333</c:v>
                </c:pt>
                <c:pt idx="5">
                  <c:v>31.3636363636364</c:v>
                </c:pt>
                <c:pt idx="6">
                  <c:v>35</c:v>
                </c:pt>
                <c:pt idx="7">
                  <c:v>46.1538461538462</c:v>
                </c:pt>
                <c:pt idx="8">
                  <c:v>36.6071428571429</c:v>
                </c:pt>
                <c:pt idx="9">
                  <c:v>34.2105263157895</c:v>
                </c:pt>
                <c:pt idx="10">
                  <c:v>52.6785714285714</c:v>
                </c:pt>
                <c:pt idx="11">
                  <c:v>45.5882352941176</c:v>
                </c:pt>
                <c:pt idx="12">
                  <c:v>46.25</c:v>
                </c:pt>
                <c:pt idx="13">
                  <c:v>60</c:v>
                </c:pt>
                <c:pt idx="14">
                  <c:v>58.3333333333333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08543616"/>
        <c:axId val="1608542176"/>
      </c:barChart>
      <c:catAx>
        <c:axId val="1608543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08542176"/>
        <c:crosses val="autoZero"/>
        <c:auto val="1"/>
        <c:lblAlgn val="ctr"/>
        <c:lblOffset val="100"/>
        <c:noMultiLvlLbl val="0"/>
      </c:catAx>
      <c:valAx>
        <c:axId val="1608542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0854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d59f656-2b04-417a-8209-1390fb758aa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210" indent="-283210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210">
              <a:spcBef>
                <a:spcPts val="600"/>
              </a:spcBef>
              <a:defRPr sz="2000"/>
            </a:lvl2pPr>
            <a:lvl3pPr indent="-283210">
              <a:spcBef>
                <a:spcPts val="1800"/>
              </a:spcBef>
              <a:defRPr sz="2000"/>
            </a:lvl3pPr>
            <a:lvl4pPr indent="-283210">
              <a:spcBef>
                <a:spcPts val="1800"/>
              </a:spcBef>
              <a:defRPr sz="2000"/>
            </a:lvl4pPr>
            <a:lvl5pPr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210" indent="-28321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210">
              <a:spcBef>
                <a:spcPts val="1800"/>
              </a:spcBef>
              <a:defRPr sz="2000"/>
            </a:lvl2pPr>
            <a:lvl3pPr indent="-283210">
              <a:spcBef>
                <a:spcPts val="1800"/>
              </a:spcBef>
              <a:defRPr sz="2000"/>
            </a:lvl3pPr>
            <a:lvl4pPr indent="-283210">
              <a:spcBef>
                <a:spcPts val="1800"/>
              </a:spcBef>
              <a:defRPr sz="2000"/>
            </a:lvl4pPr>
            <a:lvl5pPr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/>
          <p:cNvCxnSpPr/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210" indent="-283210">
              <a:spcBef>
                <a:spcPts val="1800"/>
              </a:spcBef>
              <a:defRPr sz="2000"/>
            </a:lvl2pPr>
            <a:lvl3pPr marL="594360" indent="-283210">
              <a:spcBef>
                <a:spcPts val="1800"/>
              </a:spcBef>
              <a:defRPr sz="2000"/>
            </a:lvl3pPr>
            <a:lvl4pPr marL="822960" indent="-283210">
              <a:spcBef>
                <a:spcPts val="1800"/>
              </a:spcBef>
              <a:defRPr sz="2000"/>
            </a:lvl4pPr>
            <a:lvl5pPr marL="1005840"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210" indent="-283210">
              <a:spcBef>
                <a:spcPts val="1800"/>
              </a:spcBef>
              <a:defRPr sz="2000"/>
            </a:lvl2pPr>
            <a:lvl3pPr marL="548640" indent="-283210">
              <a:spcBef>
                <a:spcPts val="1800"/>
              </a:spcBef>
              <a:defRPr sz="2000"/>
            </a:lvl3pPr>
            <a:lvl4pPr marL="822960" indent="-283210">
              <a:spcBef>
                <a:spcPts val="1800"/>
              </a:spcBef>
              <a:defRPr sz="2000"/>
            </a:lvl4pPr>
            <a:lvl5pPr marL="1005840"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/>
            <p:cNvSpPr/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endParaRPr lang="en-US" dirty="0"/>
          </a:p>
        </p:txBody>
      </p:sp>
      <p:sp>
        <p:nvSpPr>
          <p:cNvPr id="2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210" indent="-283210">
              <a:spcBef>
                <a:spcPts val="1800"/>
              </a:spcBef>
              <a:defRPr sz="2000"/>
            </a:lvl2pPr>
            <a:lvl3pPr marL="548640" indent="-283210">
              <a:spcBef>
                <a:spcPts val="1800"/>
              </a:spcBef>
              <a:defRPr sz="2000"/>
            </a:lvl3pPr>
            <a:lvl4pPr marL="822960" indent="-283210">
              <a:spcBef>
                <a:spcPts val="1800"/>
              </a:spcBef>
              <a:defRPr sz="2000"/>
            </a:lvl4pPr>
            <a:lvl5pPr marL="1005840"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3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210">
              <a:spcBef>
                <a:spcPts val="1800"/>
              </a:spcBef>
              <a:defRPr sz="2000"/>
            </a:lvl2pPr>
            <a:lvl3pPr indent="-283210">
              <a:spcBef>
                <a:spcPts val="1800"/>
              </a:spcBef>
              <a:defRPr sz="2000"/>
            </a:lvl3pPr>
            <a:lvl4pPr indent="-283210">
              <a:spcBef>
                <a:spcPts val="1800"/>
              </a:spcBef>
              <a:defRPr sz="2000"/>
            </a:lvl4pPr>
            <a:lvl5pPr indent="-283210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sp>
        <p:nvSpPr>
          <p:cNvPr id="9" name="Table Placeholder 2"/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</a:fld>
            <a:endParaRPr lang="en-US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/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21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21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hyperlink" Target="https://zuha-usman1307.github.io/Group7_OnlineRestaurant/" TargetMode="External"/><Relationship Id="rId4" Type="http://schemas.openxmlformats.org/officeDocument/2006/relationships/hyperlink" Target="https://zoha67-jkl.github.io/Group7_OnlineRestaurant" TargetMode="External"/><Relationship Id="rId3" Type="http://schemas.openxmlformats.org/officeDocument/2006/relationships/hyperlink" Target="https://mashammunir.github.io/group7_online-restaurant" TargetMode="External"/><Relationship Id="rId2" Type="http://schemas.openxmlformats.org/officeDocument/2006/relationships/hyperlink" Target="https://afifazulfqar717.github.io/Group7_OnlineRestaurant/contact.html" TargetMode="External"/><Relationship Id="rId1" Type="http://schemas.openxmlformats.org/officeDocument/2006/relationships/hyperlink" Target="https://hafsa-876.github.io/group7_-online-resturant-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Online 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Restaurant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41021" y="6099242"/>
            <a:ext cx="1750979" cy="75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Group 7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5292"/>
            <a:ext cx="6787747" cy="159350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Group members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Afifa Zulfiqar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Zuha Usman Ghani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Hafsa Saeed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Zoha Mujahid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Masham Munir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Pentagon 3"/>
          <p:cNvSpPr/>
          <p:nvPr/>
        </p:nvSpPr>
        <p:spPr>
          <a:xfrm rot="14331504">
            <a:off x="9534524" y="3344228"/>
            <a:ext cx="2545715" cy="2059305"/>
          </a:xfrm>
          <a:prstGeom prst="pentag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/>
          <p:cNvSpPr/>
          <p:nvPr/>
        </p:nvSpPr>
        <p:spPr>
          <a:xfrm>
            <a:off x="9221758" y="5314404"/>
            <a:ext cx="922041" cy="91440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/>
          <p:cNvSpPr/>
          <p:nvPr/>
        </p:nvSpPr>
        <p:spPr>
          <a:xfrm>
            <a:off x="8515339" y="3121342"/>
            <a:ext cx="922041" cy="914400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/>
          <p:cNvSpPr/>
          <p:nvPr/>
        </p:nvSpPr>
        <p:spPr>
          <a:xfrm>
            <a:off x="11183767" y="235292"/>
            <a:ext cx="535621" cy="585599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gonal Stripe 8"/>
          <p:cNvSpPr/>
          <p:nvPr/>
        </p:nvSpPr>
        <p:spPr>
          <a:xfrm>
            <a:off x="10563540" y="5669279"/>
            <a:ext cx="1628460" cy="1134021"/>
          </a:xfrm>
          <a:prstGeom prst="diagStrip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/>
          <p:cNvSpPr/>
          <p:nvPr/>
        </p:nvSpPr>
        <p:spPr>
          <a:xfrm>
            <a:off x="10287000" y="199072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/>
          <p:cNvSpPr/>
          <p:nvPr/>
        </p:nvSpPr>
        <p:spPr>
          <a:xfrm>
            <a:off x="0" y="467296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2682240"/>
            <a:ext cx="12192000" cy="268224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i="1" dirty="0">
                <a:solidFill>
                  <a:schemeClr val="tx1">
                    <a:lumMod val="95000"/>
                  </a:schemeClr>
                </a:solidFill>
              </a:rPr>
              <a:t>Objectives </a:t>
            </a:r>
            <a:r>
              <a:rPr lang="en-US" sz="16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endParaRPr lang="en-US" sz="16600" i="1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and Excel Objectives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create a simple and attractive restaurant website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present Cheezious food menu and services clearly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use Excel for storing and analyzing menu data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connect Excel data with website content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apply Excel formulas and charts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19" name="Group 18"/>
          <p:cNvGrpSpPr/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84177" y="176346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Overview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sz="quarter" idx="13"/>
          </p:nvPr>
        </p:nvSpPr>
        <p:spPr>
          <a:xfrm>
            <a:off x="2959226" y="2413254"/>
            <a:ext cx="8261922" cy="37004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Cheezious Restaurant website is designed to provide complete information to customers in a simple and user-friendly way.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website is created using HTML and CSS.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Website Pages: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Home Page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Menu / Products Page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/>
          <p:cNvGrpSpPr/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/>
            <p:cNvSpPr/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Demo Screenshot: Home Page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594360" y="2655375"/>
            <a:ext cx="4490827" cy="3597470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Home page introduces Cheezious Restaurant with a clean layout and attractive colors.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displays the restaurant name, tagline, and navigation menu for easy access to other pages.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Abad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Content Placeholder 5" descr="A pizza on a wooden board&#10;&#10;AI-generated content may be incorrect."/>
          <p:cNvPicPr>
            <a:picLocks noGrp="1" noChangeAspect="1"/>
          </p:cNvPicPr>
          <p:nvPr>
            <p:ph sz="quarter" idx="16"/>
          </p:nvPr>
        </p:nvPicPr>
        <p:blipFill>
          <a:blip r:embed="rId1"/>
          <a:stretch>
            <a:fillRect/>
          </a:stretch>
        </p:blipFill>
        <p:spPr>
          <a:xfrm>
            <a:off x="5501640" y="1772725"/>
            <a:ext cx="5349240" cy="450107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472440" y="-312237"/>
            <a:ext cx="5440679" cy="14935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  <a:endParaRPr lang="en-US" sz="4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Content Placeholder 2"/>
          <p:cNvSpPr txBox="1"/>
          <p:nvPr/>
        </p:nvSpPr>
        <p:spPr>
          <a:xfrm>
            <a:off x="640080" y="1691640"/>
            <a:ext cx="4695349" cy="28498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21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Product / Services page shows Cheezious food items such as pizzas, burgers, and deals.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also highlights restaurant services including dine-in seating, takeaway, and delivery options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.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Abad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291024" y="973736"/>
            <a:ext cx="3782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The services page introduces Cheezies Restaurant with a clean layout and attractive colors.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It displays the restaurant name, tagline, and navigation menu for easy access to other pages.</a:t>
            </a:r>
            <a:endParaRPr lang="en-US" b="1" dirty="0">
              <a:solidFill>
                <a:srgbClr val="FFC000"/>
              </a:solidFill>
            </a:endParaRPr>
          </a:p>
        </p:txBody>
      </p:sp>
      <p:pic>
        <p:nvPicPr>
          <p:cNvPr id="17" name="Picture 16" descr="A screenshot of a menu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6572" y="3185160"/>
            <a:ext cx="5335427" cy="35509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28989" y="2719205"/>
            <a:ext cx="4479397" cy="2606040"/>
          </a:xfrm>
        </p:spPr>
        <p:txBody>
          <a:bodyPr/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Contact page provides customer contact details such as phone number, email address, and location.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helps customers easily reach the restaurant for orders or inquiries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badi" panose="020F0502020204030204" pitchFamily="34" charset="0"/>
              </a:rPr>
              <a:t>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Abadi" panose="020F0502020204030204" pitchFamily="34" charset="0"/>
            </a:endParaRPr>
          </a:p>
        </p:txBody>
      </p:sp>
      <p:pic>
        <p:nvPicPr>
          <p:cNvPr id="6" name="Content Placeholder 5" descr="A screenshot of a contact us&#10;&#10;AI-generated content may be incorrect."/>
          <p:cNvPicPr>
            <a:picLocks noGrp="1" noChangeAspect="1"/>
          </p:cNvPicPr>
          <p:nvPr>
            <p:ph sz="quarter" idx="14"/>
          </p:nvPr>
        </p:nvPicPr>
        <p:blipFill>
          <a:blip r:embed="rId1"/>
          <a:stretch>
            <a:fillRect/>
          </a:stretch>
        </p:blipFill>
        <p:spPr>
          <a:xfrm>
            <a:off x="5242560" y="0"/>
            <a:ext cx="6949440" cy="6858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Excel Data Overview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31853" y="3429000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is used to store menu items, prices, and category information.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data helps in managing and updating website content accurately.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1207203" y="1945533"/>
            <a:ext cx="1769461" cy="169261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Why we use excel?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45488" y="3264587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formulas such as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AVERAGE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IF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are used to analyze menu prices.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A chart is created to show price comparison or sales summary in a visual form.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6720839" y="1945533"/>
            <a:ext cx="1909379" cy="1893650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Excel formula</a:t>
            </a:r>
            <a:endParaRPr lang="en-US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7160" y="1772725"/>
            <a:ext cx="1191768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4360" y="335280"/>
            <a:ext cx="10149840" cy="1437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Excel Data Overview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7" name="Chart 6"/>
          <p:cNvGraphicFramePr/>
          <p:nvPr/>
        </p:nvGraphicFramePr>
        <p:xfrm>
          <a:off x="1356360" y="2057400"/>
          <a:ext cx="7970520" cy="382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39702" y="321013"/>
            <a:ext cx="7101192" cy="185798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</a:rPr>
              <a:t>GitHub URL</a:t>
            </a:r>
            <a:endParaRPr lang="en-US" sz="88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reflection blurRad="6350" stA="60000" endA="900" endPos="58000" dir="5400000" sy="-100000" algn="bl" rotWithShape="0"/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35093" y="3307403"/>
            <a:ext cx="6721813" cy="2869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000" dirty="0">
                <a:hlinkClick r:id="rId1"/>
              </a:rPr>
              <a:t>https://hafsa-876.github.io/group7_-online-resturant 20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4495A2"/>
                </a:solidFill>
                <a:hlinkClick r:id="rId2"/>
              </a:rPr>
              <a:t>https://afifazulfqar717.github.io/Group7_OnlineRestaurant/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linkClick r:id="rId2"/>
              </a:rPr>
              <a:t>contact.html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rgbClr val="FF0000"/>
                </a:solidFill>
                <a:hlinkClick r:id="rId3"/>
              </a:rPr>
              <a:t>https://mashammunir.github.io/group7_online-restaurant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/>
              <a:t>/</a:t>
            </a:r>
            <a:r>
              <a:rPr lang="en-US" dirty="0">
                <a:solidFill>
                  <a:srgbClr val="FF0000"/>
                </a:solidFill>
                <a:hlinkClick r:id="rId4"/>
              </a:rPr>
              <a:t>https://zoha67-jkl.github.io/Group7_OnlineRestaurant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5"/>
              </a:rPr>
              <a:t>https://zuha-usman1307.github.io/Group7_OnlineRestaurant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Thank you</a:t>
            </a:r>
            <a:endParaRPr 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/>
</ds:datastoreItem>
</file>

<file path=customXml/itemProps2.xml><?xml version="1.0" encoding="utf-8"?>
<ds:datastoreItem xmlns:ds="http://schemas.openxmlformats.org/officeDocument/2006/customXml" ds:itemID="{4F4B194E-8B30-4377-8C59-ECFB902D2A26}">
  <ds:schemaRefs/>
</ds:datastoreItem>
</file>

<file path=customXml/itemProps3.xml><?xml version="1.0" encoding="utf-8"?>
<ds:datastoreItem xmlns:ds="http://schemas.openxmlformats.org/officeDocument/2006/customXml" ds:itemID="{92DB9E12-8AC3-4138-BF4D-720A5525AB1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0</TotalTime>
  <Words>2069</Words>
  <Application>WPS Presentation</Application>
  <PresentationFormat>Widescreen</PresentationFormat>
  <Paragraphs>73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Abadi</vt:lpstr>
      <vt:lpstr>Calibri</vt:lpstr>
      <vt:lpstr>Franklin Gothic Demi</vt:lpstr>
      <vt:lpstr>Segoe Print</vt:lpstr>
      <vt:lpstr>Franklin Gothic Book</vt:lpstr>
      <vt:lpstr>Microsoft YaHei</vt:lpstr>
      <vt:lpstr>Arial Unicode MS</vt:lpstr>
      <vt:lpstr>Custom</vt:lpstr>
      <vt:lpstr>Online  Restaurant</vt:lpstr>
      <vt:lpstr>Group members</vt:lpstr>
      <vt:lpstr>PowerPoint 演示文稿</vt:lpstr>
      <vt:lpstr>Website and Excel Objectives</vt:lpstr>
      <vt:lpstr>Website Overview</vt:lpstr>
      <vt:lpstr>Demo Screenshot: Home Page</vt:lpstr>
      <vt:lpstr>PowerPoint 演示文稿</vt:lpstr>
      <vt:lpstr>Contact Page</vt:lpstr>
      <vt:lpstr>Excel Data Overview</vt:lpstr>
      <vt:lpstr>Excel Data Overview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khan</dc:creator>
  <cp:lastModifiedBy>Fatima Zulfqar</cp:lastModifiedBy>
  <cp:revision>9</cp:revision>
  <dcterms:created xsi:type="dcterms:W3CDTF">2026-01-04T08:51:00Z</dcterms:created>
  <dcterms:modified xsi:type="dcterms:W3CDTF">2026-01-05T05:03:25Z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D5F29A132A9347D3A395601F49D5C8C7_12</vt:lpwstr>
  </property>
  <property fmtid="{D5CDD505-2E9C-101B-9397-08002B2CF9AE}" pid="4" name="KSOProductBuildVer">
    <vt:lpwstr>1033-12.2.0.23158</vt:lpwstr>
  </property>
</Properties>
</file>